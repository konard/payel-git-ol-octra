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itle Panel"/>
          <p:cNvSpPr/>
          <p:nvPr/>
        </p:nvSpPr>
        <p:spPr>
          <a:xfrm>
            <a:off x="0" y="152400"/>
            <a:ext cx="8200000" cy="67056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itle Accent Line"/>
          <p:cNvSpPr/>
          <p:nvPr/>
        </p:nvSpPr>
        <p:spPr>
          <a:xfrm>
            <a:off x="685800" y="3950000"/>
            <a:ext cx="3657600" cy="762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Deck Title"/>
          <p:cNvSpPr>
            <a:spLocks noGrp="1"/>
          </p:cNvSpPr>
          <p:nvPr/>
        </p:nvSpPr>
        <p:spPr>
          <a:xfrm>
            <a:off x="650000" y="1420000"/>
            <a:ext cx="7200000" cy="17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4300" b="1" dirty="0">
                <a:solidFill>
                  <a:srgbClr val="0B1F28"/>
                </a:solidFill>
                <a:latin typeface="Aptos"/>
              </a:rPr>
              <a:t>Market Expansion Brief</a:t>
            </a:r>
          </a:p>
        </p:txBody>
      </p:sp>
      <p:sp>
        <p:nvSpPr>
          <p:cNvPr id="8" name="Deck Subtitle"/>
          <p:cNvSpPr>
            <a:spLocks noGrp="1"/>
          </p:cNvSpPr>
          <p:nvPr/>
        </p:nvSpPr>
        <p:spPr>
          <a:xfrm>
            <a:off x="700000" y="3280000"/>
            <a:ext cx="6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800" dirty="0">
                <a:solidFill>
                  <a:srgbClr val="5D6970"/>
                </a:solidFill>
                <a:latin typeface="Aptos"/>
              </a:rPr>
              <a:t>Compare demand signals / Prioritize near-term launch markets</a:t>
            </a:r>
          </a:p>
        </p:txBody>
      </p:sp>
      <p:sp>
        <p:nvSpPr>
          <p:cNvPr id="9" name="Deck Meta"/>
          <p:cNvSpPr>
            <a:spLocks noGrp="1"/>
          </p:cNvSpPr>
          <p:nvPr/>
        </p:nvSpPr>
        <p:spPr>
          <a:xfrm>
            <a:off x="700000" y="5180000"/>
            <a:ext cx="5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200" dirty="0">
                <a:solidFill>
                  <a:srgbClr val="5D6970"/>
                </a:solidFill>
                <a:latin typeface="Aptos"/>
              </a:rPr>
              <a:t>6-slide presentation</a:t>
            </a:r>
          </a:p>
        </p:txBody>
      </p:sp>
      <p:sp>
        <p:nvSpPr>
          <p:cNvPr id="10" name="Visual Panel"/>
          <p:cNvSpPr/>
          <p:nvPr/>
        </p:nvSpPr>
        <p:spPr>
          <a:xfrm>
            <a:off x="8400000" y="870000"/>
            <a:ext cx="3000000" cy="49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Visual Label"/>
          <p:cNvSpPr>
            <a:spLocks noGrp="1"/>
          </p:cNvSpPr>
          <p:nvPr/>
        </p:nvSpPr>
        <p:spPr>
          <a:xfrm>
            <a:off x="8720000" y="1280000"/>
            <a:ext cx="2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BFE3DC"/>
                </a:solidFill>
                <a:latin typeface="Aptos"/>
              </a:rPr>
              <a:t>Visual direction</a:t>
            </a:r>
          </a:p>
        </p:txBody>
      </p:sp>
      <p:sp>
        <p:nvSpPr>
          <p:cNvPr id="12" name="Visual Text"/>
          <p:cNvSpPr>
            <a:spLocks noGrp="1"/>
          </p:cNvSpPr>
          <p:nvPr/>
        </p:nvSpPr>
        <p:spPr>
          <a:xfrm>
            <a:off x="8720000" y="1740000"/>
            <a:ext cx="23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900" b="1" dirty="0">
                <a:solidFill>
                  <a:srgbClr val="FFFFFF"/>
                </a:solidFill>
                <a:latin typeface="Aptos"/>
              </a:rPr>
              <a:t>Hero map with highlighted target regions</a:t>
            </a:r>
          </a:p>
        </p:txBody>
      </p:sp>
      <p:sp>
        <p:nvSpPr>
          <p:cNvPr id="13" name="Visual Rule"/>
          <p:cNvSpPr/>
          <p:nvPr/>
        </p:nvSpPr>
        <p:spPr>
          <a:xfrm>
            <a:off x="8720000" y="4520000"/>
            <a:ext cx="15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Visual Hint"/>
          <p:cNvSpPr>
            <a:spLocks noGrp="1"/>
          </p:cNvSpPr>
          <p:nvPr/>
        </p:nvSpPr>
        <p:spPr>
          <a:xfrm>
            <a:off x="8720000" y="4760000"/>
            <a:ext cx="23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00" dirty="0">
                <a:solidFill>
                  <a:srgbClr val="E9F2F0"/>
                </a:solidFill>
                <a:latin typeface="Aptos"/>
              </a:rPr>
              <a:t>Search-backed image, chart, or screenshot ideas are rendered on content slides.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D45D3A"/>
                </a:solidFill>
                <a:latin typeface="Aptos"/>
              </a:rPr>
              <a:t>02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Demand Signals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Search volume clusters around three use cases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Customer interviews show urgency in operations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Budget owners prefer measurable rollout milestones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Stacked demand bars by region</a:t>
            </a:r>
          </a:p>
        </p:txBody>
      </p:sp>
      <p:sp>
        <p:nvSpPr>
          <p:cNvPr id="21" name="Source Divider"/>
          <p:cNvSpPr/>
          <p:nvPr/>
        </p:nvSpPr>
        <p:spPr>
          <a:xfrm>
            <a:off x="8650000" y="3780000"/>
            <a:ext cx="2050000" cy="38100"/>
          </a:xfrm>
          <a:prstGeom prst="rect">
            <a:avLst/>
          </a:prstGeom>
          <a:solidFill>
            <a:srgbClr val="B8CD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ource Label"/>
          <p:cNvSpPr>
            <a:spLocks noGrp="1"/>
          </p:cNvSpPr>
          <p:nvPr/>
        </p:nvSpPr>
        <p:spPr>
          <a:xfrm>
            <a:off x="8650000" y="3960000"/>
            <a:ext cx="23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b="1" dirty="0">
                <a:solidFill>
                  <a:srgbClr val="5D6970"/>
                </a:solidFill>
                <a:latin typeface="Aptos"/>
              </a:rPr>
              <a:t>Source</a:t>
            </a:r>
          </a:p>
        </p:txBody>
      </p:sp>
      <p:sp>
        <p:nvSpPr>
          <p:cNvPr id="23" name="Source Text"/>
          <p:cNvSpPr>
            <a:spLocks noGrp="1"/>
          </p:cNvSpPr>
          <p:nvPr/>
        </p:nvSpPr>
        <p:spPr>
          <a:xfrm>
            <a:off x="8650000" y="426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dirty="0">
                <a:solidFill>
                  <a:srgbClr val="5D6970"/>
                </a:solidFill>
                <a:latin typeface="Aptos"/>
              </a:rPr>
              <a:t>SBA market research guide - https://www.sba.gov/business-guide/plan-your-business/market-research-competitive-analysis</a:t>
            </a:r>
          </a:p>
        </p:txBody>
      </p:sp>
      <p:sp>
        <p:nvSpPr>
          <p:cNvPr id="24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6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2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E6A23C"/>
                </a:solidFill>
                <a:latin typeface="Aptos"/>
              </a:rPr>
              <a:t>03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Audience Segments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Operations leaders need faster reporting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Finance teams want lower manual review load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Founders value simple implementation paths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Three persona cards with workflow snapshots</a:t>
            </a:r>
          </a:p>
        </p:txBody>
      </p:sp>
      <p:sp>
        <p:nvSpPr>
          <p:cNvPr id="21" name="Source Divider"/>
          <p:cNvSpPr/>
          <p:nvPr/>
        </p:nvSpPr>
        <p:spPr>
          <a:xfrm>
            <a:off x="8650000" y="3780000"/>
            <a:ext cx="2050000" cy="38100"/>
          </a:xfrm>
          <a:prstGeom prst="rect">
            <a:avLst/>
          </a:prstGeom>
          <a:solidFill>
            <a:srgbClr val="B8CD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ource Label"/>
          <p:cNvSpPr>
            <a:spLocks noGrp="1"/>
          </p:cNvSpPr>
          <p:nvPr/>
        </p:nvSpPr>
        <p:spPr>
          <a:xfrm>
            <a:off x="8650000" y="3960000"/>
            <a:ext cx="23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b="1" dirty="0">
                <a:solidFill>
                  <a:srgbClr val="5D6970"/>
                </a:solidFill>
                <a:latin typeface="Aptos"/>
              </a:rPr>
              <a:t>Source</a:t>
            </a:r>
          </a:p>
        </p:txBody>
      </p:sp>
      <p:sp>
        <p:nvSpPr>
          <p:cNvPr id="23" name="Source Text"/>
          <p:cNvSpPr>
            <a:spLocks noGrp="1"/>
          </p:cNvSpPr>
          <p:nvPr/>
        </p:nvSpPr>
        <p:spPr>
          <a:xfrm>
            <a:off x="8650000" y="426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dirty="0">
                <a:solidFill>
                  <a:srgbClr val="5D6970"/>
                </a:solidFill>
                <a:latin typeface="Aptos"/>
              </a:rPr>
              <a:t>U.S. Census retail trade data - https://www.census.gov/retail/</a:t>
            </a:r>
          </a:p>
        </p:txBody>
      </p:sp>
      <p:sp>
        <p:nvSpPr>
          <p:cNvPr id="24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6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3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1E6F91"/>
                </a:solidFill>
                <a:latin typeface="Aptos"/>
              </a:rPr>
              <a:t>04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Go-To-Market Motion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Anchor messaging in time saved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Pair webinars with customer proof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Use partner demos for first meetings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Funnel diagram from awareness to pilot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4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3D6B5B"/>
                </a:solidFill>
                <a:latin typeface="Aptos"/>
              </a:rPr>
              <a:t>05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Risks To Manage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Regulatory language differs by region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Support coverage must match launch hours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Procurement cycles can delay conversion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Risk matrix with impact and mitigation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5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Closing Panel"/>
          <p:cNvSpPr/>
          <p:nvPr/>
        </p:nvSpPr>
        <p:spPr>
          <a:xfrm>
            <a:off x="1050000" y="1050000"/>
            <a:ext cx="9850000" cy="47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losing Accent"/>
          <p:cNvSpPr/>
          <p:nvPr/>
        </p:nvSpPr>
        <p:spPr>
          <a:xfrm>
            <a:off x="1050000" y="1050000"/>
            <a:ext cx="9850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losing Title"/>
          <p:cNvSpPr>
            <a:spLocks noGrp="1"/>
          </p:cNvSpPr>
          <p:nvPr/>
        </p:nvSpPr>
        <p:spPr>
          <a:xfrm>
            <a:off x="1550000" y="1750000"/>
            <a:ext cx="8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8" name="Closing Point 1"/>
          <p:cNvSpPr>
            <a:spLocks noGrp="1"/>
          </p:cNvSpPr>
          <p:nvPr/>
        </p:nvSpPr>
        <p:spPr>
          <a:xfrm>
            <a:off x="2150000" y="305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Validate the top two regions</a:t>
            </a:r>
          </a:p>
        </p:txBody>
      </p:sp>
      <p:sp>
        <p:nvSpPr>
          <p:cNvPr id="9" name="Closing Point 2"/>
          <p:cNvSpPr>
            <a:spLocks noGrp="1"/>
          </p:cNvSpPr>
          <p:nvPr/>
        </p:nvSpPr>
        <p:spPr>
          <a:xfrm>
            <a:off x="2150000" y="367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Prepare localized sales assets</a:t>
            </a:r>
          </a:p>
        </p:txBody>
      </p:sp>
      <p:sp>
        <p:nvSpPr>
          <p:cNvPr id="10" name="Closing Point 3"/>
          <p:cNvSpPr>
            <a:spLocks noGrp="1"/>
          </p:cNvSpPr>
          <p:nvPr/>
        </p:nvSpPr>
        <p:spPr>
          <a:xfrm>
            <a:off x="2150000" y="429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Launch a four-week pilot campaign</a:t>
            </a:r>
          </a:p>
        </p:txBody>
      </p:sp>
      <p:sp>
        <p:nvSpPr>
          <p:cNvPr id="1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1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6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