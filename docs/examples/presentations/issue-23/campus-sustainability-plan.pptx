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itle Panel"/>
          <p:cNvSpPr/>
          <p:nvPr/>
        </p:nvSpPr>
        <p:spPr>
          <a:xfrm>
            <a:off x="0" y="152400"/>
            <a:ext cx="8200000" cy="67056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itle Accent Line"/>
          <p:cNvSpPr/>
          <p:nvPr/>
        </p:nvSpPr>
        <p:spPr>
          <a:xfrm>
            <a:off x="685800" y="3950000"/>
            <a:ext cx="3657600" cy="762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Deck Title"/>
          <p:cNvSpPr>
            <a:spLocks noGrp="1"/>
          </p:cNvSpPr>
          <p:nvPr/>
        </p:nvSpPr>
        <p:spPr>
          <a:xfrm>
            <a:off x="650000" y="1420000"/>
            <a:ext cx="7200000" cy="17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4300" b="1" dirty="0">
                <a:solidFill>
                  <a:srgbClr val="0B1F28"/>
                </a:solidFill>
                <a:latin typeface="Aptos"/>
              </a:rPr>
              <a:t>Campus Sustainability Plan</a:t>
            </a:r>
          </a:p>
        </p:txBody>
      </p:sp>
      <p:sp>
        <p:nvSpPr>
          <p:cNvPr id="8" name="Deck Subtitle"/>
          <p:cNvSpPr>
            <a:spLocks noGrp="1"/>
          </p:cNvSpPr>
          <p:nvPr/>
        </p:nvSpPr>
        <p:spPr>
          <a:xfrm>
            <a:off x="700000" y="3280000"/>
            <a:ext cx="6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800" dirty="0">
                <a:solidFill>
                  <a:srgbClr val="5D6970"/>
                </a:solidFill>
                <a:latin typeface="Aptos"/>
              </a:rPr>
              <a:t>Reduce waste across daily routines / Make progress visible to students</a:t>
            </a:r>
          </a:p>
        </p:txBody>
      </p:sp>
      <p:sp>
        <p:nvSpPr>
          <p:cNvPr id="9" name="Deck Meta"/>
          <p:cNvSpPr>
            <a:spLocks noGrp="1"/>
          </p:cNvSpPr>
          <p:nvPr/>
        </p:nvSpPr>
        <p:spPr>
          <a:xfrm>
            <a:off x="700000" y="5180000"/>
            <a:ext cx="5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200" dirty="0">
                <a:solidFill>
                  <a:srgbClr val="5D6970"/>
                </a:solidFill>
                <a:latin typeface="Aptos"/>
              </a:rPr>
              <a:t>6-slide presentation</a:t>
            </a:r>
          </a:p>
        </p:txBody>
      </p:sp>
      <p:sp>
        <p:nvSpPr>
          <p:cNvPr id="10" name="Visual Panel"/>
          <p:cNvSpPr/>
          <p:nvPr/>
        </p:nvSpPr>
        <p:spPr>
          <a:xfrm>
            <a:off x="8400000" y="870000"/>
            <a:ext cx="3000000" cy="49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Visual Label"/>
          <p:cNvSpPr>
            <a:spLocks noGrp="1"/>
          </p:cNvSpPr>
          <p:nvPr/>
        </p:nvSpPr>
        <p:spPr>
          <a:xfrm>
            <a:off x="8720000" y="1280000"/>
            <a:ext cx="2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BFE3DC"/>
                </a:solidFill>
                <a:latin typeface="Aptos"/>
              </a:rPr>
              <a:t>Visual direction</a:t>
            </a:r>
          </a:p>
        </p:txBody>
      </p:sp>
      <p:sp>
        <p:nvSpPr>
          <p:cNvPr id="12" name="Visual Text"/>
          <p:cNvSpPr>
            <a:spLocks noGrp="1"/>
          </p:cNvSpPr>
          <p:nvPr/>
        </p:nvSpPr>
        <p:spPr>
          <a:xfrm>
            <a:off x="8720000" y="1740000"/>
            <a:ext cx="23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900" b="1" dirty="0">
                <a:solidFill>
                  <a:srgbClr val="FFFFFF"/>
                </a:solidFill>
                <a:latin typeface="Aptos"/>
              </a:rPr>
              <a:t>Aerial campus photo with green route overlay</a:t>
            </a:r>
          </a:p>
        </p:txBody>
      </p:sp>
      <p:sp>
        <p:nvSpPr>
          <p:cNvPr id="13" name="Visual Rule"/>
          <p:cNvSpPr/>
          <p:nvPr/>
        </p:nvSpPr>
        <p:spPr>
          <a:xfrm>
            <a:off x="8720000" y="4520000"/>
            <a:ext cx="15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Visual Hint"/>
          <p:cNvSpPr>
            <a:spLocks noGrp="1"/>
          </p:cNvSpPr>
          <p:nvPr/>
        </p:nvSpPr>
        <p:spPr>
          <a:xfrm>
            <a:off x="8720000" y="4760000"/>
            <a:ext cx="23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00" dirty="0">
                <a:solidFill>
                  <a:srgbClr val="E9F2F0"/>
                </a:solidFill>
                <a:latin typeface="Aptos"/>
              </a:rPr>
              <a:t>Search-backed image, chart, or screenshot ideas are rendered on content slides.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D45D3A"/>
                </a:solidFill>
                <a:latin typeface="Aptos"/>
              </a:rPr>
              <a:t>02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Current Baseline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Dining produces the largest visible waste stream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Dorm participation varies by building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Events create short spikes in landfill volume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Waste stream bar chart by source</a:t>
            </a:r>
          </a:p>
        </p:txBody>
      </p:sp>
      <p:sp>
        <p:nvSpPr>
          <p:cNvPr id="21" name="Source Divider"/>
          <p:cNvSpPr/>
          <p:nvPr/>
        </p:nvSpPr>
        <p:spPr>
          <a:xfrm>
            <a:off x="8650000" y="3780000"/>
            <a:ext cx="2050000" cy="38100"/>
          </a:xfrm>
          <a:prstGeom prst="rect">
            <a:avLst/>
          </a:prstGeom>
          <a:solidFill>
            <a:srgbClr val="B8CD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ource Label"/>
          <p:cNvSpPr>
            <a:spLocks noGrp="1"/>
          </p:cNvSpPr>
          <p:nvPr/>
        </p:nvSpPr>
        <p:spPr>
          <a:xfrm>
            <a:off x="8650000" y="3960000"/>
            <a:ext cx="23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b="1" dirty="0">
                <a:solidFill>
                  <a:srgbClr val="5D6970"/>
                </a:solidFill>
                <a:latin typeface="Aptos"/>
              </a:rPr>
              <a:t>Source</a:t>
            </a:r>
          </a:p>
        </p:txBody>
      </p:sp>
      <p:sp>
        <p:nvSpPr>
          <p:cNvPr id="23" name="Source Text"/>
          <p:cNvSpPr>
            <a:spLocks noGrp="1"/>
          </p:cNvSpPr>
          <p:nvPr/>
        </p:nvSpPr>
        <p:spPr>
          <a:xfrm>
            <a:off x="8650000" y="426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dirty="0">
                <a:solidFill>
                  <a:srgbClr val="5D6970"/>
                </a:solidFill>
                <a:latin typeface="Aptos"/>
              </a:rPr>
              <a:t>EPA Reduce, Reuse, Recycle - https://www.epa.gov/recycle</a:t>
            </a:r>
          </a:p>
        </p:txBody>
      </p:sp>
      <p:sp>
        <p:nvSpPr>
          <p:cNvPr id="24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6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2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E6A23C"/>
                </a:solidFill>
                <a:latin typeface="Aptos"/>
              </a:rPr>
              <a:t>03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Behavior Design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Put sorting cues at decision points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Make reuse stations easy to find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Reward teams for monthly improvement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Before-after bin station comparison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3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1E6F91"/>
                </a:solidFill>
                <a:latin typeface="Aptos"/>
              </a:rPr>
              <a:t>04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Operations Changes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Standardize bin colors across buildings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Add event kits for high-traffic venues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Publish pickup schedules for transparency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Operations workflow map from bins to reporting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4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3D6B5B"/>
                </a:solidFill>
                <a:latin typeface="Aptos"/>
              </a:rPr>
              <a:t>05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Measurement Plan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Track landfill diversion weekly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Share building-level leaderboards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Review contamination with facilities staff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Dashboard mockup with trend lines</a:t>
            </a:r>
          </a:p>
        </p:txBody>
      </p:sp>
      <p:sp>
        <p:nvSpPr>
          <p:cNvPr id="21" name="Source Divider"/>
          <p:cNvSpPr/>
          <p:nvPr/>
        </p:nvSpPr>
        <p:spPr>
          <a:xfrm>
            <a:off x="8650000" y="3780000"/>
            <a:ext cx="2050000" cy="38100"/>
          </a:xfrm>
          <a:prstGeom prst="rect">
            <a:avLst/>
          </a:prstGeom>
          <a:solidFill>
            <a:srgbClr val="B8CD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ource Label"/>
          <p:cNvSpPr>
            <a:spLocks noGrp="1"/>
          </p:cNvSpPr>
          <p:nvPr/>
        </p:nvSpPr>
        <p:spPr>
          <a:xfrm>
            <a:off x="8650000" y="3960000"/>
            <a:ext cx="23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b="1" dirty="0">
                <a:solidFill>
                  <a:srgbClr val="5D6970"/>
                </a:solidFill>
                <a:latin typeface="Aptos"/>
              </a:rPr>
              <a:t>Source</a:t>
            </a:r>
          </a:p>
        </p:txBody>
      </p:sp>
      <p:sp>
        <p:nvSpPr>
          <p:cNvPr id="23" name="Source Text"/>
          <p:cNvSpPr>
            <a:spLocks noGrp="1"/>
          </p:cNvSpPr>
          <p:nvPr/>
        </p:nvSpPr>
        <p:spPr>
          <a:xfrm>
            <a:off x="8650000" y="426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dirty="0">
                <a:solidFill>
                  <a:srgbClr val="5D6970"/>
                </a:solidFill>
                <a:latin typeface="Aptos"/>
              </a:rPr>
              <a:t>EPA reducing waste guide - https://www.epa.gov/recycle/reducing-waste-what-you-can-do</a:t>
            </a:r>
          </a:p>
        </p:txBody>
      </p:sp>
      <p:sp>
        <p:nvSpPr>
          <p:cNvPr id="24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6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5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Closing Panel"/>
          <p:cNvSpPr/>
          <p:nvPr/>
        </p:nvSpPr>
        <p:spPr>
          <a:xfrm>
            <a:off x="1050000" y="1050000"/>
            <a:ext cx="9850000" cy="47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losing Accent"/>
          <p:cNvSpPr/>
          <p:nvPr/>
        </p:nvSpPr>
        <p:spPr>
          <a:xfrm>
            <a:off x="1050000" y="1050000"/>
            <a:ext cx="9850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losing Title"/>
          <p:cNvSpPr>
            <a:spLocks noGrp="1"/>
          </p:cNvSpPr>
          <p:nvPr/>
        </p:nvSpPr>
        <p:spPr>
          <a:xfrm>
            <a:off x="1550000" y="1750000"/>
            <a:ext cx="8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8" name="Closing Point 1"/>
          <p:cNvSpPr>
            <a:spLocks noGrp="1"/>
          </p:cNvSpPr>
          <p:nvPr/>
        </p:nvSpPr>
        <p:spPr>
          <a:xfrm>
            <a:off x="2150000" y="305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Start with dining and residence halls</a:t>
            </a:r>
          </a:p>
        </p:txBody>
      </p:sp>
      <p:sp>
        <p:nvSpPr>
          <p:cNvPr id="9" name="Closing Point 2"/>
          <p:cNvSpPr>
            <a:spLocks noGrp="1"/>
          </p:cNvSpPr>
          <p:nvPr/>
        </p:nvSpPr>
        <p:spPr>
          <a:xfrm>
            <a:off x="2150000" y="367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Report progress in plain language</a:t>
            </a:r>
          </a:p>
        </p:txBody>
      </p:sp>
      <p:sp>
        <p:nvSpPr>
          <p:cNvPr id="10" name="Closing Point 3"/>
          <p:cNvSpPr>
            <a:spLocks noGrp="1"/>
          </p:cNvSpPr>
          <p:nvPr/>
        </p:nvSpPr>
        <p:spPr>
          <a:xfrm>
            <a:off x="2150000" y="429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Use visible wins to expand participation</a:t>
            </a:r>
          </a:p>
        </p:txBody>
      </p:sp>
      <p:sp>
        <p:nvSpPr>
          <p:cNvPr id="1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1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6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