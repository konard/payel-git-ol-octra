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Relationship Id="rId9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chemeClr val="tx1"/>
          </a:solidFill>
        </a:defRPr>
      </a:lvl1pPr>
    </p:titleStyle>
    <p:bodyStyle>
      <a:lvl1pPr marL="342900" indent="-342900">
        <a:buChar char="•"/>
        <a:defRPr sz="2800">
          <a:solidFill>
            <a:schemeClr val="tx1"/>
          </a:solidFill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Title Panel"/>
          <p:cNvSpPr/>
          <p:nvPr/>
        </p:nvSpPr>
        <p:spPr>
          <a:xfrm>
            <a:off x="0" y="152400"/>
            <a:ext cx="8200000" cy="67056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itle Accent Line"/>
          <p:cNvSpPr/>
          <p:nvPr/>
        </p:nvSpPr>
        <p:spPr>
          <a:xfrm>
            <a:off x="685800" y="3950000"/>
            <a:ext cx="3657600" cy="762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Deck Title"/>
          <p:cNvSpPr>
            <a:spLocks noGrp="1"/>
          </p:cNvSpPr>
          <p:nvPr/>
        </p:nvSpPr>
        <p:spPr>
          <a:xfrm>
            <a:off x="650000" y="1420000"/>
            <a:ext cx="7200000" cy="17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4300" b="1" dirty="0">
                <a:solidFill>
                  <a:srgbClr val="0B1F28"/>
                </a:solidFill>
                <a:latin typeface="Aptos"/>
              </a:rPr>
              <a:t>Neighborhood Bakery Launch</a:t>
            </a:r>
          </a:p>
        </p:txBody>
      </p:sp>
      <p:sp>
        <p:nvSpPr>
          <p:cNvPr id="8" name="Deck Subtitle"/>
          <p:cNvSpPr>
            <a:spLocks noGrp="1"/>
          </p:cNvSpPr>
          <p:nvPr/>
        </p:nvSpPr>
        <p:spPr>
          <a:xfrm>
            <a:off x="700000" y="3280000"/>
            <a:ext cx="62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800" dirty="0">
                <a:solidFill>
                  <a:srgbClr val="5D6970"/>
                </a:solidFill>
                <a:latin typeface="Aptos"/>
              </a:rPr>
              <a:t>Introduce a seasonal pastry line / Build repeat morning traffic</a:t>
            </a:r>
          </a:p>
        </p:txBody>
      </p:sp>
      <p:sp>
        <p:nvSpPr>
          <p:cNvPr id="9" name="Deck Meta"/>
          <p:cNvSpPr>
            <a:spLocks noGrp="1"/>
          </p:cNvSpPr>
          <p:nvPr/>
        </p:nvSpPr>
        <p:spPr>
          <a:xfrm>
            <a:off x="700000" y="5180000"/>
            <a:ext cx="56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200" dirty="0">
                <a:solidFill>
                  <a:srgbClr val="5D6970"/>
                </a:solidFill>
                <a:latin typeface="Aptos"/>
              </a:rPr>
              <a:t>6-slide presentation</a:t>
            </a:r>
          </a:p>
        </p:txBody>
      </p:sp>
      <p:sp>
        <p:nvSpPr>
          <p:cNvPr id="10" name="Visual Panel"/>
          <p:cNvSpPr/>
          <p:nvPr/>
        </p:nvSpPr>
        <p:spPr>
          <a:xfrm>
            <a:off x="8400000" y="870000"/>
            <a:ext cx="3000000" cy="4950000"/>
          </a:xfrm>
          <a:prstGeom prst="round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Visual Label"/>
          <p:cNvSpPr>
            <a:spLocks noGrp="1"/>
          </p:cNvSpPr>
          <p:nvPr/>
        </p:nvSpPr>
        <p:spPr>
          <a:xfrm>
            <a:off x="8720000" y="1280000"/>
            <a:ext cx="23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BFE3DC"/>
                </a:solidFill>
                <a:latin typeface="Aptos"/>
              </a:rPr>
              <a:t>Visual direction</a:t>
            </a:r>
          </a:p>
        </p:txBody>
      </p:sp>
      <p:sp>
        <p:nvSpPr>
          <p:cNvPr id="12" name="Visual Text"/>
          <p:cNvSpPr>
            <a:spLocks noGrp="1"/>
          </p:cNvSpPr>
          <p:nvPr/>
        </p:nvSpPr>
        <p:spPr>
          <a:xfrm>
            <a:off x="8720000" y="1740000"/>
            <a:ext cx="2300000" cy="2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900" b="1" dirty="0">
                <a:solidFill>
                  <a:srgbClr val="FFFFFF"/>
                </a:solidFill>
                <a:latin typeface="Aptos"/>
              </a:rPr>
              <a:t>Warm product photo with storefront detail</a:t>
            </a:r>
          </a:p>
        </p:txBody>
      </p:sp>
      <p:sp>
        <p:nvSpPr>
          <p:cNvPr id="13" name="Visual Rule"/>
          <p:cNvSpPr/>
          <p:nvPr/>
        </p:nvSpPr>
        <p:spPr>
          <a:xfrm>
            <a:off x="8720000" y="4520000"/>
            <a:ext cx="1500000" cy="508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Visual Hint"/>
          <p:cNvSpPr>
            <a:spLocks noGrp="1"/>
          </p:cNvSpPr>
          <p:nvPr/>
        </p:nvSpPr>
        <p:spPr>
          <a:xfrm>
            <a:off x="8720000" y="4760000"/>
            <a:ext cx="2300000" cy="6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00" dirty="0">
                <a:solidFill>
                  <a:srgbClr val="E9F2F0"/>
                </a:solidFill>
                <a:latin typeface="Aptos"/>
              </a:rPr>
              <a:t>Search-backed image, chart, or screenshot ideas are rendered on content slides.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D45D3A"/>
                </a:solidFill>
                <a:latin typeface="Aptos"/>
              </a:rPr>
              <a:t>02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Customer Moment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Weekday commuters want fast premium options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Families shop visually on weekends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Office orders need predictable packaging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Customer journey strip from sidewalk to counter</a:t>
            </a:r>
          </a:p>
        </p:txBody>
      </p:sp>
      <p:sp>
        <p:nvSpPr>
          <p:cNvPr id="21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D45D3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3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2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E6A23C"/>
                </a:solidFill>
                <a:latin typeface="Aptos"/>
              </a:rPr>
              <a:t>03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Product Story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Lead with one signature pastry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Use local ingredients in naming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Offer three price points for trial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Pastry hero shot with ingredient callouts</a:t>
            </a:r>
          </a:p>
        </p:txBody>
      </p:sp>
      <p:sp>
        <p:nvSpPr>
          <p:cNvPr id="21" name="Source Divider"/>
          <p:cNvSpPr/>
          <p:nvPr/>
        </p:nvSpPr>
        <p:spPr>
          <a:xfrm>
            <a:off x="8650000" y="3780000"/>
            <a:ext cx="2050000" cy="38100"/>
          </a:xfrm>
          <a:prstGeom prst="rect">
            <a:avLst/>
          </a:prstGeom>
          <a:solidFill>
            <a:srgbClr val="B8CDC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Source Label"/>
          <p:cNvSpPr>
            <a:spLocks noGrp="1"/>
          </p:cNvSpPr>
          <p:nvPr/>
        </p:nvSpPr>
        <p:spPr>
          <a:xfrm>
            <a:off x="8650000" y="3960000"/>
            <a:ext cx="23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900" b="1" dirty="0">
                <a:solidFill>
                  <a:srgbClr val="5D6970"/>
                </a:solidFill>
                <a:latin typeface="Aptos"/>
              </a:rPr>
              <a:t>Source</a:t>
            </a:r>
          </a:p>
        </p:txBody>
      </p:sp>
      <p:sp>
        <p:nvSpPr>
          <p:cNvPr id="23" name="Source Text"/>
          <p:cNvSpPr>
            <a:spLocks noGrp="1"/>
          </p:cNvSpPr>
          <p:nvPr/>
        </p:nvSpPr>
        <p:spPr>
          <a:xfrm>
            <a:off x="8650000" y="4260000"/>
            <a:ext cx="23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900" dirty="0">
                <a:solidFill>
                  <a:srgbClr val="5D6970"/>
                </a:solidFill>
                <a:latin typeface="Aptos"/>
              </a:rPr>
              <a:t>SBA market research guide - https://www.sba.gov/business-guide/plan-your-business/market-research-competitive-analysis</a:t>
            </a:r>
          </a:p>
        </p:txBody>
      </p:sp>
      <p:sp>
        <p:nvSpPr>
          <p:cNvPr id="24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6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3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1E6F91"/>
                </a:solidFill>
                <a:latin typeface="Aptos"/>
              </a:rPr>
              <a:t>04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Launch Calendar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Preview tastings one week before launch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Post daily behind-the-scenes reels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Invite nearby offices to preorder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Four-week calendar with tasting markers</a:t>
            </a:r>
          </a:p>
        </p:txBody>
      </p:sp>
      <p:sp>
        <p:nvSpPr>
          <p:cNvPr id="21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1E6F91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3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4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lide Number"/>
          <p:cNvSpPr>
            <a:spLocks noGrp="1"/>
          </p:cNvSpPr>
          <p:nvPr/>
        </p:nvSpPr>
        <p:spPr>
          <a:xfrm>
            <a:off x="650000" y="430000"/>
            <a:ext cx="7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00" b="1" dirty="0">
                <a:solidFill>
                  <a:srgbClr val="3D6B5B"/>
                </a:solidFill>
                <a:latin typeface="Aptos"/>
              </a:rPr>
              <a:t>05</a:t>
            </a:r>
          </a:p>
        </p:txBody>
      </p:sp>
      <p:sp>
        <p:nvSpPr>
          <p:cNvPr id="6" name="Slide Title"/>
          <p:cNvSpPr>
            <a:spLocks noGrp="1"/>
          </p:cNvSpPr>
          <p:nvPr/>
        </p:nvSpPr>
        <p:spPr>
          <a:xfrm>
            <a:off x="1350000" y="350000"/>
            <a:ext cx="75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2750" b="1" dirty="0">
                <a:solidFill>
                  <a:srgbClr val="0B1F28"/>
                </a:solidFill>
                <a:latin typeface="Aptos"/>
              </a:rPr>
              <a:t>In-Store Experience</a:t>
            </a:r>
          </a:p>
        </p:txBody>
      </p:sp>
      <p:sp>
        <p:nvSpPr>
          <p:cNvPr id="7" name="Title Rule"/>
          <p:cNvSpPr/>
          <p:nvPr/>
        </p:nvSpPr>
        <p:spPr>
          <a:xfrm>
            <a:off x="1350000" y="1120000"/>
            <a:ext cx="2200000" cy="508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Point Card 1"/>
          <p:cNvSpPr/>
          <p:nvPr/>
        </p:nvSpPr>
        <p:spPr>
          <a:xfrm>
            <a:off x="650000" y="152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9" name="Point Accent 1"/>
          <p:cNvSpPr/>
          <p:nvPr/>
        </p:nvSpPr>
        <p:spPr>
          <a:xfrm>
            <a:off x="650000" y="1520000"/>
            <a:ext cx="76200" cy="760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int Text 1"/>
          <p:cNvSpPr>
            <a:spLocks noGrp="1"/>
          </p:cNvSpPr>
          <p:nvPr/>
        </p:nvSpPr>
        <p:spPr>
          <a:xfrm>
            <a:off x="900000" y="161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Place the hero item near checkout</a:t>
            </a:r>
          </a:p>
        </p:txBody>
      </p:sp>
      <p:sp>
        <p:nvSpPr>
          <p:cNvPr id="11" name="Point Card 2"/>
          <p:cNvSpPr/>
          <p:nvPr/>
        </p:nvSpPr>
        <p:spPr>
          <a:xfrm>
            <a:off x="650000" y="241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2" name="Point Accent 2"/>
          <p:cNvSpPr/>
          <p:nvPr/>
        </p:nvSpPr>
        <p:spPr>
          <a:xfrm>
            <a:off x="650000" y="2410000"/>
            <a:ext cx="76200" cy="760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Point Text 2"/>
          <p:cNvSpPr>
            <a:spLocks noGrp="1"/>
          </p:cNvSpPr>
          <p:nvPr/>
        </p:nvSpPr>
        <p:spPr>
          <a:xfrm>
            <a:off x="900000" y="250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Use clear allergen cards</a:t>
            </a:r>
          </a:p>
        </p:txBody>
      </p:sp>
      <p:sp>
        <p:nvSpPr>
          <p:cNvPr id="14" name="Point Card 3"/>
          <p:cNvSpPr/>
          <p:nvPr/>
        </p:nvSpPr>
        <p:spPr>
          <a:xfrm>
            <a:off x="650000" y="3300000"/>
            <a:ext cx="715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FDA"/>
            </a:solidFill>
          </a:ln>
        </p:spPr>
        <p:txBody>
          <a:bodyPr/>
          <a:lstStyle/>
          <a:p/>
        </p:txBody>
      </p:sp>
      <p:sp>
        <p:nvSpPr>
          <p:cNvPr id="15" name="Point Accent 3"/>
          <p:cNvSpPr/>
          <p:nvPr/>
        </p:nvSpPr>
        <p:spPr>
          <a:xfrm>
            <a:off x="650000" y="3300000"/>
            <a:ext cx="76200" cy="7600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int Text 3"/>
          <p:cNvSpPr>
            <a:spLocks noGrp="1"/>
          </p:cNvSpPr>
          <p:nvPr/>
        </p:nvSpPr>
        <p:spPr>
          <a:xfrm>
            <a:off x="900000" y="3390000"/>
            <a:ext cx="6500000" cy="64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550" dirty="0">
                <a:solidFill>
                  <a:srgbClr val="0B1F28"/>
                </a:solidFill>
                <a:latin typeface="Aptos"/>
              </a:rPr>
              <a:t>Bundle coffee upgrades at the register</a:t>
            </a:r>
          </a:p>
        </p:txBody>
      </p:sp>
      <p:sp>
        <p:nvSpPr>
          <p:cNvPr id="17" name="Visual Card"/>
          <p:cNvSpPr/>
          <p:nvPr/>
        </p:nvSpPr>
        <p:spPr>
          <a:xfrm>
            <a:off x="8350000" y="1500000"/>
            <a:ext cx="3000000" cy="3750000"/>
          </a:xfrm>
          <a:prstGeom prst="roundRect">
            <a:avLst/>
          </a:prstGeom>
          <a:solidFill>
            <a:srgbClr val="E9F2F0"/>
          </a:solidFill>
          <a:ln w="12700">
            <a:solidFill>
              <a:srgbClr val="B8CDC8"/>
            </a:solidFill>
          </a:ln>
        </p:spPr>
        <p:txBody>
          <a:bodyPr/>
          <a:lstStyle/>
          <a:p/>
        </p:txBody>
      </p:sp>
      <p:sp>
        <p:nvSpPr>
          <p:cNvPr id="18" name="Visual Card Accent"/>
          <p:cNvSpPr/>
          <p:nvPr/>
        </p:nvSpPr>
        <p:spPr>
          <a:xfrm>
            <a:off x="8350000" y="1500000"/>
            <a:ext cx="3000000" cy="1016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Visual Label"/>
          <p:cNvSpPr>
            <a:spLocks noGrp="1"/>
          </p:cNvSpPr>
          <p:nvPr/>
        </p:nvSpPr>
        <p:spPr>
          <a:xfrm>
            <a:off x="8650000" y="1840000"/>
            <a:ext cx="23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050" b="1" dirty="0">
                <a:solidFill>
                  <a:srgbClr val="0A4B5A"/>
                </a:solidFill>
                <a:latin typeface="Aptos"/>
              </a:rPr>
              <a:t>Visual direction</a:t>
            </a:r>
          </a:p>
        </p:txBody>
      </p:sp>
      <p:sp>
        <p:nvSpPr>
          <p:cNvPr id="20" name="Visual Body"/>
          <p:cNvSpPr>
            <a:spLocks noGrp="1"/>
          </p:cNvSpPr>
          <p:nvPr/>
        </p:nvSpPr>
        <p:spPr>
          <a:xfrm>
            <a:off x="8650000" y="2300000"/>
            <a:ext cx="235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1350" b="1" dirty="0">
                <a:solidFill>
                  <a:srgbClr val="0B1F28"/>
                </a:solidFill>
                <a:latin typeface="Aptos"/>
              </a:rPr>
              <a:t>Counter layout diagram with product placement</a:t>
            </a:r>
          </a:p>
        </p:txBody>
      </p:sp>
      <p:sp>
        <p:nvSpPr>
          <p:cNvPr id="21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3D6B5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23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5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vas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Accent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ide Accent"/>
          <p:cNvSpPr/>
          <p:nvPr/>
        </p:nvSpPr>
        <p:spPr>
          <a:xfrm>
            <a:off x="11963400" y="0"/>
            <a:ext cx="228600" cy="68580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Closing Panel"/>
          <p:cNvSpPr/>
          <p:nvPr/>
        </p:nvSpPr>
        <p:spPr>
          <a:xfrm>
            <a:off x="1050000" y="1050000"/>
            <a:ext cx="9850000" cy="4750000"/>
          </a:xfrm>
          <a:prstGeom prst="round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Closing Accent"/>
          <p:cNvSpPr/>
          <p:nvPr/>
        </p:nvSpPr>
        <p:spPr>
          <a:xfrm>
            <a:off x="1050000" y="1050000"/>
            <a:ext cx="9850000" cy="152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Closing Title"/>
          <p:cNvSpPr>
            <a:spLocks noGrp="1"/>
          </p:cNvSpPr>
          <p:nvPr/>
        </p:nvSpPr>
        <p:spPr>
          <a:xfrm>
            <a:off x="1550000" y="1750000"/>
            <a:ext cx="82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3400" b="1" dirty="0">
                <a:solidFill>
                  <a:srgbClr val="FFFFFF"/>
                </a:solidFill>
                <a:latin typeface="Aptos"/>
              </a:rPr>
              <a:t>Wrap Up</a:t>
            </a:r>
          </a:p>
        </p:txBody>
      </p:sp>
      <p:sp>
        <p:nvSpPr>
          <p:cNvPr id="8" name="Closing Point 1"/>
          <p:cNvSpPr>
            <a:spLocks noGrp="1"/>
          </p:cNvSpPr>
          <p:nvPr/>
        </p:nvSpPr>
        <p:spPr>
          <a:xfrm>
            <a:off x="2150000" y="3050000"/>
            <a:ext cx="7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50" dirty="0">
                <a:solidFill>
                  <a:srgbClr val="E9F2F0"/>
                </a:solidFill>
                <a:latin typeface="Aptos"/>
              </a:rPr>
              <a:t>Pilot for two weekends</a:t>
            </a:r>
          </a:p>
        </p:txBody>
      </p:sp>
      <p:sp>
        <p:nvSpPr>
          <p:cNvPr id="9" name="Closing Point 2"/>
          <p:cNvSpPr>
            <a:spLocks noGrp="1"/>
          </p:cNvSpPr>
          <p:nvPr/>
        </p:nvSpPr>
        <p:spPr>
          <a:xfrm>
            <a:off x="2150000" y="3670000"/>
            <a:ext cx="7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50" dirty="0">
                <a:solidFill>
                  <a:srgbClr val="E9F2F0"/>
                </a:solidFill>
                <a:latin typeface="Aptos"/>
              </a:rPr>
              <a:t>Track sell-through by hour</a:t>
            </a:r>
          </a:p>
        </p:txBody>
      </p:sp>
      <p:sp>
        <p:nvSpPr>
          <p:cNvPr id="10" name="Closing Point 3"/>
          <p:cNvSpPr>
            <a:spLocks noGrp="1"/>
          </p:cNvSpPr>
          <p:nvPr/>
        </p:nvSpPr>
        <p:spPr>
          <a:xfrm>
            <a:off x="2150000" y="4290000"/>
            <a:ext cx="70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en-US" sz="1650" dirty="0">
                <a:solidFill>
                  <a:srgbClr val="E9F2F0"/>
                </a:solidFill>
                <a:latin typeface="Aptos"/>
              </a:rPr>
              <a:t>Keep the winning flavor in rotation</a:t>
            </a:r>
          </a:p>
        </p:txBody>
      </p:sp>
      <p:sp>
        <p:nvSpPr>
          <p:cNvPr id="11" name="Footer Rule"/>
          <p:cNvSpPr/>
          <p:nvPr/>
        </p:nvSpPr>
        <p:spPr>
          <a:xfrm>
            <a:off x="650000" y="6350000"/>
            <a:ext cx="4200000" cy="25400"/>
          </a:xfrm>
          <a:prstGeom prst="rect">
            <a:avLst/>
          </a:prstGeom>
          <a:solidFill>
            <a:srgbClr val="0A4B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Footer Brand"/>
          <p:cNvSpPr>
            <a:spLocks noGrp="1"/>
          </p:cNvSpPr>
          <p:nvPr/>
        </p:nvSpPr>
        <p:spPr>
          <a:xfrm>
            <a:off x="650000" y="642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/>
            <a:r>
              <a:rPr lang="en-US" sz="850" dirty="0">
                <a:solidFill>
                  <a:srgbClr val="5D6970"/>
                </a:solidFill>
                <a:latin typeface="Aptos"/>
              </a:rPr>
              <a:t>Octra presentation</a:t>
            </a:r>
          </a:p>
        </p:txBody>
      </p:sp>
      <p:sp>
        <p:nvSpPr>
          <p:cNvPr id="13" name="Footer Page"/>
          <p:cNvSpPr>
            <a:spLocks noGrp="1"/>
          </p:cNvSpPr>
          <p:nvPr/>
        </p:nvSpPr>
        <p:spPr>
          <a:xfrm>
            <a:off x="9750000" y="6420000"/>
            <a:ext cx="1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en-US" sz="850" dirty="0">
                <a:solidFill>
                  <a:srgbClr val="5D6970"/>
                </a:solidFill>
                <a:latin typeface="Aptos"/>
              </a:rPr>
              <a:t>Slide 6 of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